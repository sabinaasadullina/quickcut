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 Condensed" panose="020F0502020204030204" pitchFamily="2" charset="0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72978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QUICKCUT: МОБИЛЬНОЕ ПРИЛОЖЕНИЕ ДЛЯ БЫСТРОГО РЕДАКТИРОВАНИЯ ВИДЕО</a:t>
            </a:r>
            <a:endParaRPr lang="en-US" sz="44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975503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Выполнила:</a:t>
            </a: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 Асадуллина Сабина, 408ИС-22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Руководитель:</a:t>
            </a: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 Кусков Ф.В.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13045678" cy="14149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ПЛАН ПРОЕКТА: ПУТЬ ОТ ИДЕИ К РЕАЛИЗАЦИИ</a:t>
            </a:r>
            <a:endParaRPr lang="en-US" sz="44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2361" y="1429226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Hubot Sans Light" pitchFamily="34" charset="-122"/>
                <a:cs typeface="Roboto Condensed" panose="02000000000000000000" pitchFamily="34" charset="0"/>
              </a:rPr>
              <a:t>01</a:t>
            </a:r>
          </a:p>
        </p:txBody>
      </p:sp>
      <p:sp>
        <p:nvSpPr>
          <p:cNvPr id="4" name="Shape 2"/>
          <p:cNvSpPr/>
          <p:nvPr/>
        </p:nvSpPr>
        <p:spPr>
          <a:xfrm>
            <a:off x="792361" y="1783437"/>
            <a:ext cx="4197668" cy="30480"/>
          </a:xfrm>
          <a:prstGeom prst="rect">
            <a:avLst/>
          </a:prstGeom>
          <a:solidFill>
            <a:srgbClr val="C8CAC1"/>
          </a:solidFill>
        </p:spPr>
      </p:sp>
      <p:sp>
        <p:nvSpPr>
          <p:cNvPr id="5" name="Text 3"/>
          <p:cNvSpPr/>
          <p:nvPr/>
        </p:nvSpPr>
        <p:spPr>
          <a:xfrm>
            <a:off x="792361" y="1957507"/>
            <a:ext cx="4197668" cy="10612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АНАЛИЗ ПРЕДМЕТНОЙ ОБЛАСТИ И ПОСТАНОВКА ЗАДАЧИ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1726" y="2808367"/>
            <a:ext cx="4197668" cy="10869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Изучение потребностей пользователей в простом и быстром редактировании видео на смартфоне.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366" y="1429226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Hubot Sans Light" pitchFamily="34" charset="-122"/>
                <a:cs typeface="Roboto Condensed" panose="02000000000000000000" pitchFamily="34" charset="0"/>
              </a:rPr>
              <a:t>02</a:t>
            </a:r>
          </a:p>
        </p:txBody>
      </p:sp>
      <p:sp>
        <p:nvSpPr>
          <p:cNvPr id="8" name="Shape 6"/>
          <p:cNvSpPr/>
          <p:nvPr/>
        </p:nvSpPr>
        <p:spPr>
          <a:xfrm>
            <a:off x="5216366" y="1783437"/>
            <a:ext cx="4197668" cy="30480"/>
          </a:xfrm>
          <a:prstGeom prst="rect">
            <a:avLst/>
          </a:prstGeom>
          <a:solidFill>
            <a:srgbClr val="C8CAC1"/>
          </a:solidFill>
        </p:spPr>
      </p:sp>
      <p:sp>
        <p:nvSpPr>
          <p:cNvPr id="9" name="Text 7"/>
          <p:cNvSpPr/>
          <p:nvPr/>
        </p:nvSpPr>
        <p:spPr>
          <a:xfrm>
            <a:off x="5216366" y="1957507"/>
            <a:ext cx="4197668" cy="10612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ПРОЕКТИРОВАНИЕ АРХИТЕКТУРЫ ПРИЛОЖЕНИЯ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366" y="2807732"/>
            <a:ext cx="4197668" cy="10869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Разработка современной и масштабируемой архитектуры на основе MVVM.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372" y="1429226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Hubot Sans Light" pitchFamily="34" charset="-122"/>
                <a:cs typeface="Roboto Condensed" panose="02000000000000000000" pitchFamily="34" charset="0"/>
              </a:rPr>
              <a:t>03</a:t>
            </a:r>
          </a:p>
        </p:txBody>
      </p:sp>
      <p:sp>
        <p:nvSpPr>
          <p:cNvPr id="12" name="Shape 10"/>
          <p:cNvSpPr/>
          <p:nvPr/>
        </p:nvSpPr>
        <p:spPr>
          <a:xfrm>
            <a:off x="9640372" y="1783437"/>
            <a:ext cx="4197668" cy="30480"/>
          </a:xfrm>
          <a:prstGeom prst="rect">
            <a:avLst/>
          </a:prstGeom>
          <a:solidFill>
            <a:srgbClr val="C8CAC1"/>
          </a:solidFill>
        </p:spPr>
      </p:sp>
      <p:sp>
        <p:nvSpPr>
          <p:cNvPr id="13" name="Text 11"/>
          <p:cNvSpPr/>
          <p:nvPr/>
        </p:nvSpPr>
        <p:spPr>
          <a:xfrm>
            <a:off x="9640372" y="1957507"/>
            <a:ext cx="4197668" cy="7074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РЕАЛИЗАЦИЯ БАЗОВОГО ФУНКЦИОНАЛА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1007" y="2808327"/>
            <a:ext cx="4197668" cy="724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Воплощение ключевых функций редактирования видео.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1726" y="4195524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Hubot Sans Light" pitchFamily="34" charset="-122"/>
                <a:cs typeface="Roboto Condensed" panose="02000000000000000000" pitchFamily="34" charset="0"/>
              </a:rPr>
              <a:t>04</a:t>
            </a:r>
          </a:p>
        </p:txBody>
      </p:sp>
      <p:sp>
        <p:nvSpPr>
          <p:cNvPr id="16" name="Shape 14"/>
          <p:cNvSpPr/>
          <p:nvPr/>
        </p:nvSpPr>
        <p:spPr>
          <a:xfrm>
            <a:off x="792361" y="4637365"/>
            <a:ext cx="6409611" cy="30480"/>
          </a:xfrm>
          <a:prstGeom prst="rect">
            <a:avLst/>
          </a:prstGeom>
          <a:solidFill>
            <a:srgbClr val="C8CAC1"/>
          </a:solidFill>
        </p:spPr>
      </p:sp>
      <p:sp>
        <p:nvSpPr>
          <p:cNvPr id="17" name="Text 15"/>
          <p:cNvSpPr/>
          <p:nvPr/>
        </p:nvSpPr>
        <p:spPr>
          <a:xfrm>
            <a:off x="792361" y="4889540"/>
            <a:ext cx="4023955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ТЕСТИРОВАНИЕ И ОТЛАДКА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361" y="5392976"/>
            <a:ext cx="6409611" cy="724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Обеспечение стабильности и корректной работы приложения на различных устройствах.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309" y="4195524"/>
            <a:ext cx="226338" cy="282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Hubot Sans Light" pitchFamily="34" charset="-122"/>
                <a:cs typeface="Roboto Condensed" panose="02000000000000000000" pitchFamily="34" charset="0"/>
              </a:rPr>
              <a:t>05</a:t>
            </a:r>
          </a:p>
        </p:txBody>
      </p:sp>
      <p:sp>
        <p:nvSpPr>
          <p:cNvPr id="20" name="Shape 18"/>
          <p:cNvSpPr/>
          <p:nvPr/>
        </p:nvSpPr>
        <p:spPr>
          <a:xfrm>
            <a:off x="7428309" y="4629745"/>
            <a:ext cx="6409730" cy="30480"/>
          </a:xfrm>
          <a:prstGeom prst="rect">
            <a:avLst/>
          </a:prstGeom>
          <a:solidFill>
            <a:srgbClr val="C8CAC1"/>
          </a:solidFill>
        </p:spPr>
      </p:sp>
      <p:sp>
        <p:nvSpPr>
          <p:cNvPr id="21" name="Text 19"/>
          <p:cNvSpPr/>
          <p:nvPr/>
        </p:nvSpPr>
        <p:spPr>
          <a:xfrm>
            <a:off x="7428309" y="4890175"/>
            <a:ext cx="4624030" cy="35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ДОКУМЕНТИРОВАНИЕ ПРОЕКТА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28309" y="5395516"/>
            <a:ext cx="6409730" cy="724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Создание подробной технической документации для поддержки и развития проекта.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4251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QUICKCUT: ИДЕЯ И ЦЕЛЕВАЯ АУДИТОРИЯ</a:t>
            </a:r>
            <a:endParaRPr lang="en-US" sz="44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60878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ОСНОВНАЯ ИДЕЯ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189928"/>
            <a:ext cx="3501509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Создание интуитивного мобильного видеоредактора для быстрого монтажа видео на Android с поддержкой обрезки, склейки, наложения музыки и фильтров.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608784"/>
            <a:ext cx="319659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ЦЕЛЕВАЯ АУДИТОРИЯ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342721" y="4189928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Пользователи социальных сетей (TikTok, Instagram, YouTube Shorts).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5357932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Блогеры и создатели контента.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5800130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Любители, желающие быстро обработать видео с телефона.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5705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КЛЮЧЕВЫЕ ФУНКЦИИ ПРИЛОЖЕНИЯ QUICKCUT</a:t>
            </a:r>
            <a:endParaRPr lang="en-US" sz="44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25543"/>
            <a:ext cx="328255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ДЛЯ ПОЛЬЗОВАТЕЛЕЙ: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85980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5" name="Text 3"/>
          <p:cNvSpPr/>
          <p:nvPr/>
        </p:nvSpPr>
        <p:spPr>
          <a:xfrm>
            <a:off x="1133951" y="2735024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Выбор видео из галереи устройства.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67633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7" name="Text 5"/>
          <p:cNvSpPr/>
          <p:nvPr/>
        </p:nvSpPr>
        <p:spPr>
          <a:xfrm>
            <a:off x="1133951" y="3551555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Воспроизведение видео с возможностью предпросмотра.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49286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9" name="Text 7"/>
          <p:cNvSpPr/>
          <p:nvPr/>
        </p:nvSpPr>
        <p:spPr>
          <a:xfrm>
            <a:off x="1133951" y="4368086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Обрезка видео по времени.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30939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11" name="Text 9"/>
          <p:cNvSpPr/>
          <p:nvPr/>
        </p:nvSpPr>
        <p:spPr>
          <a:xfrm>
            <a:off x="1133951" y="5184616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Наложение фильтров на видео.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612592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13" name="Text 11"/>
          <p:cNvSpPr/>
          <p:nvPr/>
        </p:nvSpPr>
        <p:spPr>
          <a:xfrm>
            <a:off x="1133951" y="6001147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Экспорт готового видео в галерею.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21255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ДЛЯ СИСТЕМЫ:</a:t>
            </a:r>
            <a:endParaRPr lang="en-US" sz="22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99521" y="285980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16" name="Text 14"/>
          <p:cNvSpPr/>
          <p:nvPr/>
        </p:nvSpPr>
        <p:spPr>
          <a:xfrm>
            <a:off x="7932063" y="2735024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Сохранение проектов в локальной базе данных.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599521" y="367633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18" name="Text 16"/>
          <p:cNvSpPr/>
          <p:nvPr/>
        </p:nvSpPr>
        <p:spPr>
          <a:xfrm>
            <a:off x="7932063" y="3540125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Поддержка работы с большими видеофайлами.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99521" y="449286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C8CAC1"/>
          </a:solidFill>
        </p:spPr>
      </p:sp>
      <p:sp>
        <p:nvSpPr>
          <p:cNvPr id="20" name="Text 18"/>
          <p:cNvSpPr/>
          <p:nvPr/>
        </p:nvSpPr>
        <p:spPr>
          <a:xfrm>
            <a:off x="7932063" y="4364276"/>
            <a:ext cx="590454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Оптимизация памяти и производительности.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713" y="448985"/>
            <a:ext cx="12015788" cy="504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АРХИТЕКТУРА ПРОЕКТА: ОСНОВА ПРОИЗВОДИТЕЛЬНОСТИ</a:t>
            </a:r>
            <a:endParaRPr lang="en-US" sz="31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63" y="1286034"/>
            <a:ext cx="13500973" cy="4365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5252" y="3899359"/>
            <a:ext cx="2962279" cy="370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MODEL</a:t>
            </a:r>
          </a:p>
        </p:txBody>
      </p:sp>
      <p:sp>
        <p:nvSpPr>
          <p:cNvPr id="5" name="Text 2"/>
          <p:cNvSpPr/>
          <p:nvPr/>
        </p:nvSpPr>
        <p:spPr>
          <a:xfrm>
            <a:off x="883802" y="4374969"/>
            <a:ext cx="3633729" cy="592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Данные и бизнес-логика приложения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204901" y="2865853"/>
            <a:ext cx="2962280" cy="370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VIEWMODEL</a:t>
            </a:r>
          </a:p>
        </p:txBody>
      </p:sp>
      <p:sp>
        <p:nvSpPr>
          <p:cNvPr id="7" name="Text 4"/>
          <p:cNvSpPr/>
          <p:nvPr/>
        </p:nvSpPr>
        <p:spPr>
          <a:xfrm>
            <a:off x="10204901" y="3341463"/>
            <a:ext cx="3541570" cy="592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Слой состояния и реактивной связи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55046" y="2072620"/>
            <a:ext cx="2962279" cy="370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VIEW</a:t>
            </a:r>
          </a:p>
        </p:txBody>
      </p:sp>
      <p:sp>
        <p:nvSpPr>
          <p:cNvPr id="9" name="Text 6"/>
          <p:cNvSpPr/>
          <p:nvPr/>
        </p:nvSpPr>
        <p:spPr>
          <a:xfrm>
            <a:off x="883596" y="2548230"/>
            <a:ext cx="3633729" cy="2962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UI и привязки к ViewModel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8943" y="5984478"/>
            <a:ext cx="3791664" cy="252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MVVM (MODEL-VIEW-VIEWMODEL)</a:t>
            </a:r>
            <a:endParaRPr lang="en-US" sz="15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8745" y="6396990"/>
            <a:ext cx="6505575" cy="849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Четкое разделение логики,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данных и интерфейса для упрощения тестирования и поддержки.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19630" y="5983843"/>
            <a:ext cx="4014549" cy="252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ИСПОЛЬЗОВАНИЕ ANDROID JETPACK:</a:t>
            </a:r>
            <a:endParaRPr lang="en-US" sz="15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19630" y="6397228"/>
            <a:ext cx="6553676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0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ViewModel и LiveData/Flow для реактивного UI.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519630" y="6711791"/>
            <a:ext cx="6553676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0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Room для локального хранения проектов.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519630" y="7026354"/>
            <a:ext cx="6553676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20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Navigation Component для навигации между экранами.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8943" y="7522369"/>
            <a:ext cx="13500973" cy="2581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Графический стек:</a:t>
            </a:r>
            <a:r>
              <a:rPr lang="en-US" sz="16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 Google Media3 (ExoPlayer + Transformer) для воспроизведения и обработки видео. GPUImage/OpenGL для наложения фильтров в реальном времени.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598289"/>
            <a:ext cx="13107591" cy="13596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ИСПОЛЬЗУЕМЫЕ ТЕХНОЛОГИИ: СОВРЕМЕННЫЙ СТЕК</a:t>
            </a:r>
            <a:endParaRPr lang="en-US" sz="42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61405" y="2393037"/>
            <a:ext cx="6444972" cy="1601510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978932" y="2610564"/>
            <a:ext cx="2719507" cy="339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KOTLIN</a:t>
            </a: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978932" y="3080980"/>
            <a:ext cx="6009918" cy="696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Основной язык разработки, обеспечивающий чистоту и безопасность кода.</a:t>
            </a:r>
            <a:endParaRPr lang="en-US" sz="170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7423904" y="2393037"/>
            <a:ext cx="6445091" cy="1601510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641431" y="2610564"/>
            <a:ext cx="2719507" cy="339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ANDROID STUDIO</a:t>
            </a:r>
            <a:endParaRPr lang="en-US" sz="21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7641431" y="3080980"/>
            <a:ext cx="6010037" cy="696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Интегрированная среда разработки для эффективной работы с Android-приложениями.</a:t>
            </a:r>
            <a:endParaRPr lang="en-US" sz="170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761405" y="4212074"/>
            <a:ext cx="6444972" cy="1601510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978932" y="4429601"/>
            <a:ext cx="2760107" cy="339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ANDROID JETPACK</a:t>
            </a:r>
            <a:endParaRPr lang="en-US" sz="21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78932" y="4900017"/>
            <a:ext cx="6009918" cy="696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Коллекция библиотек для создания высококачественных и надёжных приложений.</a:t>
            </a:r>
            <a:endParaRPr lang="en-US" sz="1700" dirty="0"/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7423904" y="4212074"/>
            <a:ext cx="6445091" cy="1601510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7641431" y="4429601"/>
            <a:ext cx="2719507" cy="339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GOOGLE MEDIA3</a:t>
            </a:r>
            <a:endParaRPr lang="en-US" sz="210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7641431" y="4900017"/>
            <a:ext cx="6010037" cy="696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Мощный инструментарий для воспроизведения и обработки медиафайлов.</a:t>
            </a:r>
            <a:endParaRPr lang="en-US" sz="1700" dirty="0"/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761405" y="6031111"/>
            <a:ext cx="6444972" cy="1601510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978932" y="6248638"/>
            <a:ext cx="2719507" cy="339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GPUIMAGE</a:t>
            </a: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978932" y="6719054"/>
            <a:ext cx="6009918" cy="696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Библиотека для применения графических фильтров с использованием GPU.</a:t>
            </a:r>
            <a:endParaRPr lang="en-US" sz="1700" dirty="0"/>
          </a:p>
        </p:txBody>
      </p:sp>
      <p:sp>
        <p:nvSpPr>
          <p:cNvPr id="18" name="Shape 16"/>
          <p:cNvSpPr/>
          <p:nvPr>
            <p:custDataLst>
              <p:tags r:id="rId16"/>
            </p:custDataLst>
          </p:nvPr>
        </p:nvSpPr>
        <p:spPr>
          <a:xfrm>
            <a:off x="7423904" y="6031111"/>
            <a:ext cx="6445091" cy="1601510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7641431" y="6248638"/>
            <a:ext cx="2719507" cy="339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GITHUB</a:t>
            </a:r>
          </a:p>
        </p:txBody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7641431" y="6719054"/>
            <a:ext cx="6010037" cy="696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-120"/>
              </a:rPr>
              <a:t>Платформа для контроля версий, совместной разработки и хостинга проекта.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137" y="648176"/>
            <a:ext cx="12129849" cy="469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РЕАЛИЗОВАННЫЕ МОДУЛИ: ФУНКЦИОНАЛЬНОЕ НАПОЛНЕНИЕ</a:t>
            </a:r>
            <a:endParaRPr lang="en-US" sz="2950" dirty="0">
              <a:latin typeface="Roboto Condensed" panose="02000000000000000000" pitchFamily="34" charset="0"/>
              <a:cs typeface="Roboto Condensed" panose="02000000000000000000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26137" y="1418630"/>
            <a:ext cx="601266" cy="901898"/>
          </a:xfrm>
          <a:prstGeom prst="roundRect">
            <a:avLst>
              <a:gd name="adj" fmla="val 360034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14018" y="1728668"/>
            <a:ext cx="225385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1</a:t>
            </a:r>
          </a:p>
        </p:txBody>
      </p:sp>
      <p:sp>
        <p:nvSpPr>
          <p:cNvPr id="5" name="Text 3"/>
          <p:cNvSpPr/>
          <p:nvPr/>
        </p:nvSpPr>
        <p:spPr>
          <a:xfrm>
            <a:off x="1277660" y="1568887"/>
            <a:ext cx="3580328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ВЫБОР И ВОСПРОИЗВЕДЕНИЕ ВИДЕО</a:t>
            </a:r>
          </a:p>
        </p:txBody>
      </p:sp>
      <p:sp>
        <p:nvSpPr>
          <p:cNvPr id="6" name="Text 4"/>
          <p:cNvSpPr/>
          <p:nvPr/>
        </p:nvSpPr>
        <p:spPr>
          <a:xfrm>
            <a:off x="1277660" y="1893808"/>
            <a:ext cx="12826603" cy="240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Интеграция с галереей и ExoPlayer для удобного управления медиа.</a:t>
            </a:r>
          </a:p>
        </p:txBody>
      </p:sp>
      <p:sp>
        <p:nvSpPr>
          <p:cNvPr id="7" name="Shape 5"/>
          <p:cNvSpPr/>
          <p:nvPr/>
        </p:nvSpPr>
        <p:spPr>
          <a:xfrm>
            <a:off x="526137" y="2470785"/>
            <a:ext cx="601266" cy="901898"/>
          </a:xfrm>
          <a:prstGeom prst="roundRect">
            <a:avLst>
              <a:gd name="adj" fmla="val 360034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714018" y="2780824"/>
            <a:ext cx="225385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2</a:t>
            </a:r>
          </a:p>
        </p:txBody>
      </p:sp>
      <p:sp>
        <p:nvSpPr>
          <p:cNvPr id="9" name="Text 7"/>
          <p:cNvSpPr/>
          <p:nvPr/>
        </p:nvSpPr>
        <p:spPr>
          <a:xfrm>
            <a:off x="1277660" y="2621042"/>
            <a:ext cx="2905482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ОБРЕЗКА ВИДЕО (TRIMMING)</a:t>
            </a:r>
          </a:p>
        </p:txBody>
      </p:sp>
      <p:sp>
        <p:nvSpPr>
          <p:cNvPr id="10" name="Text 8"/>
          <p:cNvSpPr/>
          <p:nvPr/>
        </p:nvSpPr>
        <p:spPr>
          <a:xfrm>
            <a:off x="1277660" y="2945963"/>
            <a:ext cx="12826603" cy="240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Интерфейс с двумя ползунками для точного выбора начала и конца клипа.</a:t>
            </a:r>
          </a:p>
        </p:txBody>
      </p:sp>
      <p:sp>
        <p:nvSpPr>
          <p:cNvPr id="11" name="Shape 9"/>
          <p:cNvSpPr/>
          <p:nvPr/>
        </p:nvSpPr>
        <p:spPr>
          <a:xfrm>
            <a:off x="526137" y="3522940"/>
            <a:ext cx="601266" cy="901898"/>
          </a:xfrm>
          <a:prstGeom prst="roundRect">
            <a:avLst>
              <a:gd name="adj" fmla="val 360034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14018" y="3832979"/>
            <a:ext cx="225385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3</a:t>
            </a:r>
          </a:p>
        </p:txBody>
      </p:sp>
      <p:sp>
        <p:nvSpPr>
          <p:cNvPr id="13" name="Text 11"/>
          <p:cNvSpPr/>
          <p:nvPr/>
        </p:nvSpPr>
        <p:spPr>
          <a:xfrm>
            <a:off x="1277660" y="3673197"/>
            <a:ext cx="3566755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СКЛЕЙКА ВИДЕО (CONCATENATION)</a:t>
            </a:r>
          </a:p>
        </p:txBody>
      </p:sp>
      <p:sp>
        <p:nvSpPr>
          <p:cNvPr id="14" name="Text 12"/>
          <p:cNvSpPr/>
          <p:nvPr/>
        </p:nvSpPr>
        <p:spPr>
          <a:xfrm>
            <a:off x="1277660" y="3998119"/>
            <a:ext cx="12826603" cy="240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Добавление нескольких клипов в проект и их последующее объединение.</a:t>
            </a:r>
          </a:p>
        </p:txBody>
      </p:sp>
      <p:sp>
        <p:nvSpPr>
          <p:cNvPr id="15" name="Shape 13"/>
          <p:cNvSpPr/>
          <p:nvPr/>
        </p:nvSpPr>
        <p:spPr>
          <a:xfrm>
            <a:off x="526137" y="4575096"/>
            <a:ext cx="601266" cy="901898"/>
          </a:xfrm>
          <a:prstGeom prst="roundRect">
            <a:avLst>
              <a:gd name="adj" fmla="val 360034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714018" y="4885134"/>
            <a:ext cx="225385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4</a:t>
            </a:r>
          </a:p>
        </p:txBody>
      </p:sp>
      <p:sp>
        <p:nvSpPr>
          <p:cNvPr id="17" name="Text 15"/>
          <p:cNvSpPr/>
          <p:nvPr/>
        </p:nvSpPr>
        <p:spPr>
          <a:xfrm>
            <a:off x="1277660" y="4725353"/>
            <a:ext cx="3293269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ДОБАВЛЕНИЕ ФОНОВОЙ МУЗЫКИ</a:t>
            </a:r>
          </a:p>
        </p:txBody>
      </p:sp>
      <p:sp>
        <p:nvSpPr>
          <p:cNvPr id="18" name="Text 16"/>
          <p:cNvSpPr/>
          <p:nvPr/>
        </p:nvSpPr>
        <p:spPr>
          <a:xfrm>
            <a:off x="1277660" y="5050274"/>
            <a:ext cx="12826603" cy="240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Выбор аудиофайла и микширование его с оригинальным звуком видео.</a:t>
            </a:r>
          </a:p>
        </p:txBody>
      </p:sp>
      <p:sp>
        <p:nvSpPr>
          <p:cNvPr id="19" name="Shape 17"/>
          <p:cNvSpPr/>
          <p:nvPr/>
        </p:nvSpPr>
        <p:spPr>
          <a:xfrm>
            <a:off x="526137" y="5627251"/>
            <a:ext cx="601266" cy="901898"/>
          </a:xfrm>
          <a:prstGeom prst="roundRect">
            <a:avLst>
              <a:gd name="adj" fmla="val 360034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14018" y="5937290"/>
            <a:ext cx="225385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5</a:t>
            </a:r>
          </a:p>
        </p:txBody>
      </p:sp>
      <p:sp>
        <p:nvSpPr>
          <p:cNvPr id="21" name="Text 19"/>
          <p:cNvSpPr/>
          <p:nvPr/>
        </p:nvSpPr>
        <p:spPr>
          <a:xfrm>
            <a:off x="1277660" y="5777508"/>
            <a:ext cx="2360771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НАЛОЖЕНИЕ ФИЛЬТРОВ</a:t>
            </a:r>
          </a:p>
        </p:txBody>
      </p:sp>
      <p:sp>
        <p:nvSpPr>
          <p:cNvPr id="22" name="Text 20"/>
          <p:cNvSpPr/>
          <p:nvPr/>
        </p:nvSpPr>
        <p:spPr>
          <a:xfrm>
            <a:off x="1277660" y="6102429"/>
            <a:ext cx="12826603" cy="240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Поддержка базовых фильтров, таких как сепия, черно-белый, регулировка яркости и контраста.</a:t>
            </a:r>
          </a:p>
        </p:txBody>
      </p:sp>
      <p:sp>
        <p:nvSpPr>
          <p:cNvPr id="23" name="Shape 21"/>
          <p:cNvSpPr/>
          <p:nvPr/>
        </p:nvSpPr>
        <p:spPr>
          <a:xfrm>
            <a:off x="526137" y="6679406"/>
            <a:ext cx="601266" cy="901898"/>
          </a:xfrm>
          <a:prstGeom prst="roundRect">
            <a:avLst>
              <a:gd name="adj" fmla="val 360034"/>
            </a:avLst>
          </a:prstGeom>
          <a:solidFill>
            <a:srgbClr val="C8CAC1">
              <a:alpha val="5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14018" y="6989445"/>
            <a:ext cx="225385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6</a:t>
            </a:r>
          </a:p>
        </p:txBody>
      </p:sp>
      <p:sp>
        <p:nvSpPr>
          <p:cNvPr id="25" name="Text 23"/>
          <p:cNvSpPr/>
          <p:nvPr/>
        </p:nvSpPr>
        <p:spPr>
          <a:xfrm>
            <a:off x="1277660" y="6829663"/>
            <a:ext cx="1879044" cy="2347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ЭКСПОРТ ВИДЕО</a:t>
            </a:r>
          </a:p>
        </p:txBody>
      </p:sp>
      <p:sp>
        <p:nvSpPr>
          <p:cNvPr id="26" name="Text 24"/>
          <p:cNvSpPr/>
          <p:nvPr/>
        </p:nvSpPr>
        <p:spPr>
          <a:xfrm>
            <a:off x="1277660" y="7154585"/>
            <a:ext cx="12826603" cy="2405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Рендеринг готового проекта в формате MP4 и сохранение в галерею устройства.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1844" y="497403"/>
            <a:ext cx="7890272" cy="11194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ОСОБЕННОСТИ РЕАЛИЗАЦИИ: КЛЮЧЕВЫЕ ПРЕИМУЩЕСТВА</a:t>
            </a:r>
          </a:p>
        </p:txBody>
      </p:sp>
      <p:sp>
        <p:nvSpPr>
          <p:cNvPr id="4" name="Shape 1"/>
          <p:cNvSpPr/>
          <p:nvPr/>
        </p:nvSpPr>
        <p:spPr>
          <a:xfrm>
            <a:off x="6113264" y="1896864"/>
            <a:ext cx="7890272" cy="1077516"/>
          </a:xfrm>
          <a:prstGeom prst="roundRect">
            <a:avLst>
              <a:gd name="adj" fmla="val 10183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90404" y="1896864"/>
            <a:ext cx="91440" cy="1077516"/>
          </a:xfrm>
          <a:prstGeom prst="roundRect">
            <a:avLst>
              <a:gd name="adj" fmla="val 29381"/>
            </a:avLst>
          </a:prstGeom>
          <a:solidFill>
            <a:srgbClr val="C8CAC1"/>
          </a:solidFill>
        </p:spPr>
      </p:sp>
      <p:sp>
        <p:nvSpPr>
          <p:cNvPr id="6" name="Text 3"/>
          <p:cNvSpPr/>
          <p:nvPr/>
        </p:nvSpPr>
        <p:spPr>
          <a:xfrm>
            <a:off x="6383774" y="2098794"/>
            <a:ext cx="5005030" cy="2797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ИСПОЛЬЗОВАНИЕ MEDIA3 TRANSFORMER</a:t>
            </a:r>
          </a:p>
        </p:txBody>
      </p:sp>
      <p:sp>
        <p:nvSpPr>
          <p:cNvPr id="7" name="Text 4"/>
          <p:cNvSpPr/>
          <p:nvPr/>
        </p:nvSpPr>
        <p:spPr>
          <a:xfrm>
            <a:off x="6383774" y="2485985"/>
            <a:ext cx="7417832" cy="286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Современное решение от Google, гарантирующее быструю и стабильную обработку видео.</a:t>
            </a:r>
          </a:p>
        </p:txBody>
      </p:sp>
      <p:sp>
        <p:nvSpPr>
          <p:cNvPr id="8" name="Shape 5"/>
          <p:cNvSpPr/>
          <p:nvPr/>
        </p:nvSpPr>
        <p:spPr>
          <a:xfrm>
            <a:off x="6113264" y="3153450"/>
            <a:ext cx="7890272" cy="1077516"/>
          </a:xfrm>
          <a:prstGeom prst="roundRect">
            <a:avLst>
              <a:gd name="adj" fmla="val 10183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90404" y="3153450"/>
            <a:ext cx="91440" cy="1077516"/>
          </a:xfrm>
          <a:prstGeom prst="roundRect">
            <a:avLst>
              <a:gd name="adj" fmla="val 29381"/>
            </a:avLst>
          </a:prstGeom>
          <a:solidFill>
            <a:srgbClr val="C8CAC1"/>
          </a:solidFill>
        </p:spPr>
      </p:sp>
      <p:sp>
        <p:nvSpPr>
          <p:cNvPr id="10" name="Text 7"/>
          <p:cNvSpPr/>
          <p:nvPr/>
        </p:nvSpPr>
        <p:spPr>
          <a:xfrm>
            <a:off x="6383774" y="3355380"/>
            <a:ext cx="4275058" cy="2797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ЛОКАЛЬНОЕ СОХРАНЕНИЕ ПРОЕКТОВ</a:t>
            </a:r>
          </a:p>
        </p:txBody>
      </p:sp>
      <p:sp>
        <p:nvSpPr>
          <p:cNvPr id="11" name="Text 8"/>
          <p:cNvSpPr/>
          <p:nvPr/>
        </p:nvSpPr>
        <p:spPr>
          <a:xfrm>
            <a:off x="6383774" y="3742571"/>
            <a:ext cx="7417832" cy="286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Возможность продолжить редактирование в любое удобное время, сохраняя прогресс локально.</a:t>
            </a:r>
          </a:p>
        </p:txBody>
      </p:sp>
      <p:sp>
        <p:nvSpPr>
          <p:cNvPr id="12" name="Shape 9"/>
          <p:cNvSpPr/>
          <p:nvPr/>
        </p:nvSpPr>
        <p:spPr>
          <a:xfrm>
            <a:off x="6113264" y="4410035"/>
            <a:ext cx="7890272" cy="1077516"/>
          </a:xfrm>
          <a:prstGeom prst="roundRect">
            <a:avLst>
              <a:gd name="adj" fmla="val 10183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90404" y="4410035"/>
            <a:ext cx="91440" cy="1077516"/>
          </a:xfrm>
          <a:prstGeom prst="roundRect">
            <a:avLst>
              <a:gd name="adj" fmla="val 29381"/>
            </a:avLst>
          </a:prstGeom>
          <a:solidFill>
            <a:srgbClr val="C8CAC1"/>
          </a:solidFill>
        </p:spPr>
      </p:sp>
      <p:sp>
        <p:nvSpPr>
          <p:cNvPr id="14" name="Text 11"/>
          <p:cNvSpPr/>
          <p:nvPr/>
        </p:nvSpPr>
        <p:spPr>
          <a:xfrm>
            <a:off x="6383774" y="4611965"/>
            <a:ext cx="3275648" cy="2797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ИНТУИТИВНЫЙ ИНТЕРФЕЙС</a:t>
            </a:r>
          </a:p>
        </p:txBody>
      </p:sp>
      <p:sp>
        <p:nvSpPr>
          <p:cNvPr id="15" name="Text 12"/>
          <p:cNvSpPr/>
          <p:nvPr/>
        </p:nvSpPr>
        <p:spPr>
          <a:xfrm>
            <a:off x="6383774" y="4999157"/>
            <a:ext cx="7417832" cy="286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Простой и понятный пользовательский опыт (UX) для быстрого и эффективного редактирования.</a:t>
            </a:r>
          </a:p>
        </p:txBody>
      </p:sp>
      <p:sp>
        <p:nvSpPr>
          <p:cNvPr id="16" name="Shape 13"/>
          <p:cNvSpPr/>
          <p:nvPr/>
        </p:nvSpPr>
        <p:spPr>
          <a:xfrm>
            <a:off x="6113264" y="5666621"/>
            <a:ext cx="7890272" cy="1077516"/>
          </a:xfrm>
          <a:prstGeom prst="roundRect">
            <a:avLst>
              <a:gd name="adj" fmla="val 10183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0404" y="5666621"/>
            <a:ext cx="91440" cy="1077516"/>
          </a:xfrm>
          <a:prstGeom prst="roundRect">
            <a:avLst>
              <a:gd name="adj" fmla="val 29381"/>
            </a:avLst>
          </a:prstGeom>
          <a:solidFill>
            <a:srgbClr val="C8CAC1"/>
          </a:solidFill>
        </p:spPr>
      </p:sp>
      <p:sp>
        <p:nvSpPr>
          <p:cNvPr id="18" name="Text 15"/>
          <p:cNvSpPr/>
          <p:nvPr/>
        </p:nvSpPr>
        <p:spPr>
          <a:xfrm>
            <a:off x="6383774" y="5868551"/>
            <a:ext cx="3631525" cy="2797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ОПТИМИЗАЦИЯ ПОД ANDROID</a:t>
            </a:r>
          </a:p>
        </p:txBody>
      </p:sp>
      <p:sp>
        <p:nvSpPr>
          <p:cNvPr id="19" name="Text 16"/>
          <p:cNvSpPr/>
          <p:nvPr/>
        </p:nvSpPr>
        <p:spPr>
          <a:xfrm>
            <a:off x="6383774" y="6255742"/>
            <a:ext cx="7417832" cy="286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Поддержка широкого спектра версий ОС и устройств для максимальной совместимости.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416" y="810577"/>
            <a:ext cx="13138190" cy="587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ПЛАНЫ РАЗВИТИЯ: БУДУЩИЕ ГОРИЗОНТЫ QUICKCUT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16" y="1774746"/>
            <a:ext cx="940713" cy="1128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247" y="1962864"/>
            <a:ext cx="3064193" cy="2938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РАСШИРЕНИЕ ЭФФЕКТОВ</a:t>
            </a:r>
          </a:p>
        </p:txBody>
      </p:sp>
      <p:sp>
        <p:nvSpPr>
          <p:cNvPr id="5" name="Text 2"/>
          <p:cNvSpPr/>
          <p:nvPr/>
        </p:nvSpPr>
        <p:spPr>
          <a:xfrm>
            <a:off x="1787247" y="2369582"/>
            <a:ext cx="1218473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Добавление переходов между клипами (затемнение, выцветание), текстовых наложений и стикеров.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16" y="2903577"/>
            <a:ext cx="940713" cy="1128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87247" y="3091696"/>
            <a:ext cx="3386733" cy="2938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ОБЛАЧНЫЕ ВОЗМОЖНОСТИ</a:t>
            </a:r>
          </a:p>
        </p:txBody>
      </p:sp>
      <p:sp>
        <p:nvSpPr>
          <p:cNvPr id="8" name="Text 4"/>
          <p:cNvSpPr/>
          <p:nvPr/>
        </p:nvSpPr>
        <p:spPr>
          <a:xfrm>
            <a:off x="1787247" y="3498413"/>
            <a:ext cx="1218473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Интеграция с облачным хранением для удобства доступа и резервного копирования проектов.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16" y="4032409"/>
            <a:ext cx="940713" cy="1128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87247" y="4220528"/>
            <a:ext cx="3703915" cy="2938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ДОПОЛНИТЕЛЬНЫЕ ФУНКЦИИ</a:t>
            </a:r>
          </a:p>
        </p:txBody>
      </p:sp>
      <p:sp>
        <p:nvSpPr>
          <p:cNvPr id="11" name="Text 6"/>
          <p:cNvSpPr/>
          <p:nvPr/>
        </p:nvSpPr>
        <p:spPr>
          <a:xfrm>
            <a:off x="1787247" y="4627245"/>
            <a:ext cx="1218473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Внедрение расширенных эффектов, цветокоррекции, а также склейки нескольких видео.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16" y="5161240"/>
            <a:ext cx="940713" cy="11288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87247" y="5349359"/>
            <a:ext cx="2351842" cy="2938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ПУБЛИКАЦИЯ</a:t>
            </a:r>
          </a:p>
        </p:txBody>
      </p:sp>
      <p:sp>
        <p:nvSpPr>
          <p:cNvPr id="14" name="Text 8"/>
          <p:cNvSpPr/>
          <p:nvPr/>
        </p:nvSpPr>
        <p:spPr>
          <a:xfrm>
            <a:off x="1787247" y="5756077"/>
            <a:ext cx="1218473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Размещение приложения в Google Play и RuStore для широкой аудитории.</a:t>
            </a: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16" y="6290072"/>
            <a:ext cx="940713" cy="11288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87247" y="6478191"/>
            <a:ext cx="2351842" cy="2938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АУДИО КОНТРОЛЬ</a:t>
            </a:r>
          </a:p>
        </p:txBody>
      </p:sp>
      <p:sp>
        <p:nvSpPr>
          <p:cNvPr id="17" name="Text 10"/>
          <p:cNvSpPr/>
          <p:nvPr/>
        </p:nvSpPr>
        <p:spPr>
          <a:xfrm>
            <a:off x="1787247" y="6884908"/>
            <a:ext cx="1218473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Добавление фоновой музыки с регулировкой громкости для профессионального звучания.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6592" y="457676"/>
            <a:ext cx="7983617" cy="10360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ВЫВОДЫ: ЦЕННОСТЬ QUICKCUT ДЛЯ ПОЛЬЗОВАТЕЛЕЙ</a:t>
            </a:r>
          </a:p>
        </p:txBody>
      </p:sp>
      <p:sp>
        <p:nvSpPr>
          <p:cNvPr id="4" name="Shape 1"/>
          <p:cNvSpPr/>
          <p:nvPr/>
        </p:nvSpPr>
        <p:spPr>
          <a:xfrm>
            <a:off x="6066592" y="1742361"/>
            <a:ext cx="7983617" cy="5312807"/>
          </a:xfrm>
          <a:prstGeom prst="roundRect">
            <a:avLst>
              <a:gd name="adj" fmla="val 468"/>
            </a:avLst>
          </a:prstGeom>
          <a:solidFill>
            <a:srgbClr val="D8D9D2"/>
          </a:solidFill>
        </p:spPr>
      </p:sp>
      <p:sp>
        <p:nvSpPr>
          <p:cNvPr id="5" name="Shape 2"/>
          <p:cNvSpPr/>
          <p:nvPr/>
        </p:nvSpPr>
        <p:spPr>
          <a:xfrm>
            <a:off x="6066592" y="1742361"/>
            <a:ext cx="7983617" cy="1203841"/>
          </a:xfrm>
          <a:prstGeom prst="roundRect">
            <a:avLst>
              <a:gd name="adj" fmla="val 2066"/>
            </a:avLst>
          </a:prstGeom>
          <a:solidFill>
            <a:srgbClr val="D8D9D2"/>
          </a:solidFill>
        </p:spPr>
      </p:sp>
      <p:sp>
        <p:nvSpPr>
          <p:cNvPr id="6" name="Text 3"/>
          <p:cNvSpPr/>
          <p:nvPr/>
        </p:nvSpPr>
        <p:spPr>
          <a:xfrm>
            <a:off x="6232327" y="1908096"/>
            <a:ext cx="3018592" cy="259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БЫСТРОЕ РЕДАКТИРОВАНИЕ</a:t>
            </a:r>
          </a:p>
        </p:txBody>
      </p:sp>
      <p:sp>
        <p:nvSpPr>
          <p:cNvPr id="7" name="Text 4"/>
          <p:cNvSpPr/>
          <p:nvPr/>
        </p:nvSpPr>
        <p:spPr>
          <a:xfrm>
            <a:off x="6232327" y="2266593"/>
            <a:ext cx="7652147" cy="265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Все основные функции в одном приложении, доступные для мгновенного использования.</a:t>
            </a:r>
          </a:p>
        </p:txBody>
      </p:sp>
      <p:sp>
        <p:nvSpPr>
          <p:cNvPr id="8" name="Shape 5"/>
          <p:cNvSpPr/>
          <p:nvPr/>
        </p:nvSpPr>
        <p:spPr>
          <a:xfrm>
            <a:off x="6066592" y="2946202"/>
            <a:ext cx="7983617" cy="1452563"/>
          </a:xfrm>
          <a:prstGeom prst="rect">
            <a:avLst/>
          </a:prstGeom>
          <a:solidFill>
            <a:srgbClr val="D8D9D2"/>
          </a:solidFill>
        </p:spPr>
      </p:sp>
      <p:sp>
        <p:nvSpPr>
          <p:cNvPr id="9" name="Shape 6"/>
          <p:cNvSpPr/>
          <p:nvPr/>
        </p:nvSpPr>
        <p:spPr>
          <a:xfrm>
            <a:off x="6066592" y="2946202"/>
            <a:ext cx="7983617" cy="22860"/>
          </a:xfrm>
          <a:prstGeom prst="roundRect">
            <a:avLst>
              <a:gd name="adj" fmla="val 108783"/>
            </a:avLst>
          </a:prstGeom>
          <a:solidFill>
            <a:srgbClr val="AEB0A7"/>
          </a:solidFill>
        </p:spPr>
      </p:sp>
      <p:sp>
        <p:nvSpPr>
          <p:cNvPr id="10" name="Shape 7"/>
          <p:cNvSpPr/>
          <p:nvPr/>
        </p:nvSpPr>
        <p:spPr>
          <a:xfrm>
            <a:off x="9851112" y="2750403"/>
            <a:ext cx="414457" cy="414457"/>
          </a:xfrm>
          <a:prstGeom prst="roundRect">
            <a:avLst>
              <a:gd name="adj" fmla="val 6000"/>
            </a:avLst>
          </a:prstGeom>
          <a:solidFill>
            <a:srgbClr val="E8E8E3"/>
          </a:solidFill>
          <a:ln w="22860">
            <a:solidFill>
              <a:srgbClr val="AEB0A7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4697" y="2853988"/>
            <a:ext cx="207169" cy="2071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32327" y="3360658"/>
            <a:ext cx="2365177" cy="259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ПРОСТОЙ ИНТЕРФЕЙС</a:t>
            </a:r>
          </a:p>
        </p:txBody>
      </p:sp>
      <p:sp>
        <p:nvSpPr>
          <p:cNvPr id="13" name="Text 9"/>
          <p:cNvSpPr/>
          <p:nvPr/>
        </p:nvSpPr>
        <p:spPr>
          <a:xfrm>
            <a:off x="6232327" y="3719155"/>
            <a:ext cx="7652147" cy="265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Не требует специальных навыков монтажа, интуитивно понятен каждому пользователю.</a:t>
            </a:r>
          </a:p>
        </p:txBody>
      </p:sp>
      <p:sp>
        <p:nvSpPr>
          <p:cNvPr id="14" name="Shape 10"/>
          <p:cNvSpPr/>
          <p:nvPr/>
        </p:nvSpPr>
        <p:spPr>
          <a:xfrm>
            <a:off x="6066592" y="4398764"/>
            <a:ext cx="7983617" cy="1452563"/>
          </a:xfrm>
          <a:prstGeom prst="rect">
            <a:avLst/>
          </a:prstGeom>
          <a:solidFill>
            <a:srgbClr val="D8D9D2"/>
          </a:solidFill>
        </p:spPr>
      </p:sp>
      <p:sp>
        <p:nvSpPr>
          <p:cNvPr id="15" name="Shape 11"/>
          <p:cNvSpPr/>
          <p:nvPr/>
        </p:nvSpPr>
        <p:spPr>
          <a:xfrm>
            <a:off x="6066592" y="4398764"/>
            <a:ext cx="7983617" cy="22860"/>
          </a:xfrm>
          <a:prstGeom prst="roundRect">
            <a:avLst>
              <a:gd name="adj" fmla="val 108783"/>
            </a:avLst>
          </a:prstGeom>
          <a:solidFill>
            <a:srgbClr val="AEB0A7"/>
          </a:solidFill>
        </p:spPr>
      </p:sp>
      <p:sp>
        <p:nvSpPr>
          <p:cNvPr id="16" name="Shape 12"/>
          <p:cNvSpPr/>
          <p:nvPr/>
        </p:nvSpPr>
        <p:spPr>
          <a:xfrm>
            <a:off x="9851112" y="4202966"/>
            <a:ext cx="414457" cy="414457"/>
          </a:xfrm>
          <a:prstGeom prst="roundRect">
            <a:avLst>
              <a:gd name="adj" fmla="val 6000"/>
            </a:avLst>
          </a:prstGeom>
          <a:solidFill>
            <a:srgbClr val="E8E8E3"/>
          </a:solidFill>
          <a:ln w="22860">
            <a:solidFill>
              <a:srgbClr val="AEB0A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4697" y="4306550"/>
            <a:ext cx="207169" cy="2071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2327" y="4813221"/>
            <a:ext cx="2293025" cy="259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СТАБИЛЬНАЯ РАБОТА</a:t>
            </a:r>
          </a:p>
        </p:txBody>
      </p:sp>
      <p:sp>
        <p:nvSpPr>
          <p:cNvPr id="19" name="Text 14"/>
          <p:cNvSpPr/>
          <p:nvPr/>
        </p:nvSpPr>
        <p:spPr>
          <a:xfrm>
            <a:off x="6232327" y="5171718"/>
            <a:ext cx="7652147" cy="265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Приложение оптимизировано под Android, обеспечивая бесперебойное функционирование.</a:t>
            </a:r>
          </a:p>
        </p:txBody>
      </p:sp>
      <p:sp>
        <p:nvSpPr>
          <p:cNvPr id="20" name="Shape 15"/>
          <p:cNvSpPr/>
          <p:nvPr/>
        </p:nvSpPr>
        <p:spPr>
          <a:xfrm>
            <a:off x="6066592" y="5851327"/>
            <a:ext cx="7983617" cy="1203841"/>
          </a:xfrm>
          <a:prstGeom prst="rect">
            <a:avLst/>
          </a:prstGeom>
          <a:solidFill>
            <a:srgbClr val="D8D9D2"/>
          </a:solidFill>
        </p:spPr>
      </p:sp>
      <p:sp>
        <p:nvSpPr>
          <p:cNvPr id="21" name="Shape 16"/>
          <p:cNvSpPr/>
          <p:nvPr/>
        </p:nvSpPr>
        <p:spPr>
          <a:xfrm>
            <a:off x="6066592" y="5851327"/>
            <a:ext cx="7983617" cy="22860"/>
          </a:xfrm>
          <a:prstGeom prst="roundRect">
            <a:avLst>
              <a:gd name="adj" fmla="val 108783"/>
            </a:avLst>
          </a:prstGeom>
          <a:solidFill>
            <a:srgbClr val="AEB0A7"/>
          </a:solidFill>
        </p:spPr>
      </p:sp>
      <p:sp>
        <p:nvSpPr>
          <p:cNvPr id="22" name="Shape 17"/>
          <p:cNvSpPr/>
          <p:nvPr/>
        </p:nvSpPr>
        <p:spPr>
          <a:xfrm>
            <a:off x="9851112" y="5655528"/>
            <a:ext cx="414457" cy="414457"/>
          </a:xfrm>
          <a:prstGeom prst="roundRect">
            <a:avLst>
              <a:gd name="adj" fmla="val 6000"/>
            </a:avLst>
          </a:prstGeom>
          <a:solidFill>
            <a:srgbClr val="E8E8E3"/>
          </a:solidFill>
          <a:ln w="22860">
            <a:solidFill>
              <a:srgbClr val="AEB0A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54697" y="5759113"/>
            <a:ext cx="207169" cy="20716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32327" y="6265783"/>
            <a:ext cx="2854047" cy="259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 Condensed" panose="02000000000000000000" pitchFamily="34" charset="0"/>
                <a:ea typeface="Hubot Sans Bold" pitchFamily="34" charset="-122"/>
                <a:cs typeface="Roboto Condensed" panose="02000000000000000000" pitchFamily="34" charset="0"/>
              </a:rPr>
              <a:t>ГОТОВНОСТЬ К РАЗВИТИЮ</a:t>
            </a:r>
          </a:p>
        </p:txBody>
      </p:sp>
      <p:sp>
        <p:nvSpPr>
          <p:cNvPr id="25" name="Text 19"/>
          <p:cNvSpPr/>
          <p:nvPr/>
        </p:nvSpPr>
        <p:spPr>
          <a:xfrm>
            <a:off x="6232327" y="6624280"/>
            <a:ext cx="7652147" cy="2651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Архитектура проекта позволяет легко добавлять новые функции и возможности.</a:t>
            </a:r>
          </a:p>
        </p:txBody>
      </p:sp>
      <p:sp>
        <p:nvSpPr>
          <p:cNvPr id="26" name="Text 20"/>
          <p:cNvSpPr/>
          <p:nvPr/>
        </p:nvSpPr>
        <p:spPr>
          <a:xfrm>
            <a:off x="6066592" y="7241619"/>
            <a:ext cx="7983617" cy="530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anose="02000000000000000000" pitchFamily="34" charset="0"/>
                <a:ea typeface="Roboto Condensed" panose="02000000000000000000" pitchFamily="34" charset="-122"/>
                <a:cs typeface="Roboto Condensed" panose="02000000000000000000" pitchFamily="34" charset="0"/>
              </a:rPr>
              <a:t>Проект успешно реализован в формате MVP и готов к дальнейшему развитию и публикации, предоставляя ценный инструмент для мобильного видеомонтажа.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5656692913386,&quot;left&quot;:59.95314960629921,&quot;top&quot;:188.42811023622045,&quot;width&quot;:1032.09370078740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Office PowerPoint</Application>
  <PresentationFormat>Произвольный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Calibri</vt:lpstr>
      <vt:lpstr>Arial</vt:lpstr>
      <vt:lpstr>Roboto Condensed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Киселёва</dc:creator>
  <cp:lastModifiedBy>Екатерина Киселёва</cp:lastModifiedBy>
  <cp:revision>2</cp:revision>
  <dcterms:created xsi:type="dcterms:W3CDTF">2025-12-17T12:51:00Z</dcterms:created>
  <dcterms:modified xsi:type="dcterms:W3CDTF">2025-12-18T13:37:56Z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858317EC58E94B16BEC1B2FA0A1C7942_13</vt:lpwstr>
  </property>
  <property fmtid="{D5CDD505-2E9C-101B-9397-08002B2CF9AE}" pid="3" name="KSOProductBuildVer">
    <vt:lpwstr>1049-12.2.0.23155</vt:lpwstr>
  </property>
</Properties>
</file>